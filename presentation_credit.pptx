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0B981"/>
                </a:solidFill>
                <a:latin typeface="Arial"/>
              </a:defRPr>
            </a:pPr>
            <a:r>
              <a:t>Système Intelligent d'Évaluation du Risque de Crédit</a:t>
            </a:r>
          </a:p>
          <a:p>
            <a:pPr algn="l">
              <a:spcBef>
                <a:spcPts val="2000"/>
              </a:spcBef>
              <a:defRPr sz="2200">
                <a:solidFill>
                  <a:srgbClr val="F1F5F9"/>
                </a:solidFill>
                <a:latin typeface="Calibri"/>
              </a:defRPr>
            </a:pPr>
            <a:r>
              <a:t>Aide à la décision d'octroi de prêt par Machine Learning (MVC &amp; MLflow)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Présenté par Thierno</a:t>
            </a:r>
            <a:br/>
            <a:r>
              <a:t>Jury d'examen -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1. Contexte &amp;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Le Défi Métier :</a:t>
            </a:r>
          </a:p>
          <a:p>
            <a:pPr>
              <a:spcBef>
                <a:spcPts val="1400"/>
              </a:spcBef>
              <a:defRPr sz="1600">
                <a:solidFill>
                  <a:srgbClr val="1E293B"/>
                </a:solidFill>
                <a:latin typeface="Calibri"/>
              </a:defRPr>
            </a:pPr>
            <a:r>
              <a:t>• Comment automatiser l'analyse de solvabilité d'un demandeur de prêt ?</a:t>
            </a:r>
          </a:p>
          <a:p>
            <a:pPr>
              <a:spcBef>
                <a:spcPts val="1400"/>
              </a:spcBef>
              <a:defRPr sz="1600">
                <a:solidFill>
                  <a:srgbClr val="1E293B"/>
                </a:solidFill>
                <a:latin typeface="Calibri"/>
              </a:defRPr>
            </a:pPr>
            <a:r>
              <a:t>• Comment minimiser les pertes financières liées aux défauts de paiement ?</a:t>
            </a:r>
          </a:p>
          <a:p>
            <a:pPr>
              <a:spcBef>
                <a:spcPts val="1400"/>
              </a:spcBef>
              <a:defRPr sz="1600">
                <a:solidFill>
                  <a:srgbClr val="1E293B"/>
                </a:solidFill>
                <a:latin typeface="Calibri"/>
              </a:defRPr>
            </a:pPr>
            <a:r>
              <a:t>• Comment garantir une décision d'octroi de prêt rapide et impartiale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La Réponse Technologique :</a:t>
            </a:r>
          </a:p>
          <a:p>
            <a:pPr>
              <a:spcBef>
                <a:spcPts val="1400"/>
              </a:spcBef>
              <a:defRPr sz="1600">
                <a:solidFill>
                  <a:srgbClr val="1E293B"/>
                </a:solidFill>
                <a:latin typeface="Calibri"/>
              </a:defRPr>
            </a:pPr>
            <a:r>
              <a:t>• Modélisation du problème en tâche de classification binaire supervisée.</a:t>
            </a:r>
          </a:p>
          <a:p>
            <a:pPr>
              <a:spcBef>
                <a:spcPts val="1400"/>
              </a:spcBef>
              <a:defRPr sz="1600">
                <a:solidFill>
                  <a:srgbClr val="1E293B"/>
                </a:solidFill>
                <a:latin typeface="Calibri"/>
              </a:defRPr>
            </a:pPr>
            <a:r>
              <a:t>• Cible prédictive claire :</a:t>
            </a:r>
            <a:br/>
            <a:r>
              <a:t>  - Classe 1 : Client solvable (Prêt recommandé)</a:t>
            </a:r>
            <a:br/>
            <a:r>
              <a:t>  - Classe 0 : Risque de défaut (Prêt refusé).</a:t>
            </a:r>
          </a:p>
          <a:p>
            <a:pPr>
              <a:spcBef>
                <a:spcPts val="1400"/>
              </a:spcBef>
              <a:defRPr sz="1600">
                <a:solidFill>
                  <a:srgbClr val="1E293B"/>
                </a:solidFill>
                <a:latin typeface="Calibri"/>
              </a:defRPr>
            </a:pPr>
            <a:r>
              <a:t>• Algorithmes configurés pour être intelligibles par les experts métier.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2. Jeu de Données : German Credit de l'UCI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Calibri"/>
              </a:defRPr>
            </a:pPr>
            <a:r>
              <a:t>Jeu de données réel de 1000 observations extrait du dépôt officiel de l'UCI, traduit et adapté en français 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5029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💳 Revenus mensuels (€)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Variable continue. Salaire net mensuel estimé du demandeur.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560320"/>
            <a:ext cx="5029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📉 Montant des dettes (€)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Variable continue. Encours financier total du demandeur.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89120"/>
            <a:ext cx="5029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⏱️ Historique de paiement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Variable catégorielle. Remboursements passés (Bon, Moyen, Mauvais).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389120"/>
            <a:ext cx="5029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💼 Type de contrat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Variable catégorielle. Statut professionnel (CDI, CDD, Freelance, Sans emploi).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3. Prétraitement et Rigueur Scientifique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700" b="1">
                <a:solidFill>
                  <a:srgbClr val="10B981"/>
                </a:solidFill>
                <a:latin typeface="Arial"/>
              </a:defRPr>
            </a:pPr>
            <a:r>
              <a:t>✔ Partitionnement Stratifié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Division 80% (Entraînement) / 20% (Test). La stratification préserve la distribution exacte de la classe solvable pour garantir l'équité des sous-ensembles.</a:t>
            </a:r>
          </a:p>
          <a:p>
            <a:pPr>
              <a:spcBef>
                <a:spcPts val="1000"/>
              </a:spcBef>
              <a:defRPr sz="1700" b="1">
                <a:solidFill>
                  <a:srgbClr val="10B981"/>
                </a:solidFill>
                <a:latin typeface="Arial"/>
              </a:defRPr>
            </a:pPr>
            <a:r>
              <a:t>✔ Encodage Catégoriel (LabelEncoder)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Transformation des étiquettes textuelles de l'historique et du contrat en valeurs numériques ordonnées exploitables par les modèles.</a:t>
            </a:r>
          </a:p>
          <a:p>
            <a:pPr>
              <a:spcBef>
                <a:spcPts val="1000"/>
              </a:spcBef>
              <a:defRPr sz="1700" b="1">
                <a:solidFill>
                  <a:srgbClr val="10B981"/>
                </a:solidFill>
                <a:latin typeface="Arial"/>
              </a:defRPr>
            </a:pPr>
            <a:r>
              <a:t>✔ Normalisation (StandardScaler)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Mise à l'échelle des revenus et dettes pour éliminer les disparités d'amplitude et optimiser la convergence géométrique des algorithmes.</a:t>
            </a:r>
          </a:p>
          <a:p>
            <a:pPr>
              <a:spcBef>
                <a:spcPts val="1000"/>
              </a:spcBef>
              <a:defRPr sz="1700" b="1">
                <a:solidFill>
                  <a:srgbClr val="10B981"/>
                </a:solidFill>
                <a:latin typeface="Arial"/>
              </a:defRPr>
            </a:pPr>
            <a:r>
              <a:t>✔ Exclusion de la fuite de données (No Data Leakage)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Règle absolue : application stricte du '.fit_transform()' uniquement sur le jeu d'entraînement. Le jeu de test est converti via '.transform()' pour ne pas introduire de biais de prédiction.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4. Modélisation et Tracking MLflow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Les Modèles Évalués :</a:t>
            </a:r>
          </a:p>
          <a:p>
            <a:pPr>
              <a:spcBef>
                <a:spcPts val="1400"/>
              </a:spcBef>
              <a:defRPr sz="1600" b="1">
                <a:solidFill>
                  <a:srgbClr val="10B981"/>
                </a:solidFill>
                <a:latin typeface="Arial"/>
              </a:defRPr>
            </a:pPr>
            <a:r>
              <a:t>Arbre de Décision (Sklearn)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Calibri"/>
              </a:defRPr>
            </a:pPr>
            <a:r>
              <a:t>Modèle non linéaire. Crée un cheminement de règles logiques et visuelles. Très performant et extrêmement interprétable.</a:t>
            </a:r>
          </a:p>
          <a:p>
            <a:pPr>
              <a:spcBef>
                <a:spcPts val="1400"/>
              </a:spcBef>
              <a:defRPr sz="1600" b="1">
                <a:solidFill>
                  <a:srgbClr val="10B981"/>
                </a:solidFill>
                <a:latin typeface="Arial"/>
              </a:defRPr>
            </a:pPr>
            <a:r>
              <a:t>Régression Logistique (Sklearn)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Calibri"/>
              </a:defRPr>
            </a:pPr>
            <a:r>
              <a:t>Modèle linéaire probabiliste de référence. Rapide à calculer et idéal comme ligne de base de classification.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Suivi d'Expériences avec MLflow :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  <a:latin typeface="Calibri"/>
              </a:defRPr>
            </a:pPr>
            <a:r>
              <a:t>• Centralisation de l'historique d'entraînement de chaque modèle.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  <a:latin typeface="Calibri"/>
              </a:defRPr>
            </a:pPr>
            <a:r>
              <a:t>• Logging automatique des hyperparamètres critiques (ex: max_depth, max_iter).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  <a:latin typeface="Calibri"/>
              </a:defRPr>
            </a:pPr>
            <a:r>
              <a:t>• Enregistrement des performances globales (Exactitude, Rappel, F1-Score).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  <a:latin typeface="Calibri"/>
              </a:defRPr>
            </a:pPr>
            <a:r>
              <a:t>• Stockage sécurisé des versions de modèles prêtes à la production (Model Registry).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5. Comparaison des Performances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011680"/>
          <a:ext cx="103628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Algorithme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Exactitude (Accuracy)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F1-Score (Classe Solvable)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Statut Production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🌲 Arbre de Décision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94.00 %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0.9434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Meilleur Modèle (Actif)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📈 Régression Logistique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80.00 %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Ligne de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114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Pourquoi l'Arbre de Décision a-t-il été retenu ?</a:t>
            </a:r>
          </a:p>
          <a:p>
            <a:pPr>
              <a:spcBef>
                <a:spcPts val="800"/>
              </a:spcBef>
              <a:defRPr sz="1500">
                <a:solidFill>
                  <a:srgbClr val="1E293B"/>
                </a:solidFill>
                <a:latin typeface="Calibri"/>
              </a:defRPr>
            </a:pPr>
            <a:r>
              <a:t>✔ F1-Score optimal de 94.34% : meilleur compromis entre Précision (ne pas prêter à un mauvais profil) et Rappel (identifier tous les bons profils).</a:t>
            </a:r>
          </a:p>
          <a:p>
            <a:pPr>
              <a:spcBef>
                <a:spcPts val="800"/>
              </a:spcBef>
              <a:defRPr sz="1500">
                <a:solidFill>
                  <a:srgbClr val="1E293B"/>
                </a:solidFill>
                <a:latin typeface="Calibri"/>
              </a:defRPr>
            </a:pPr>
            <a:r>
              <a:t>✔ Explicabilité totale : contrairement à un modèle opaque ('boîte noire'), l'Arbre de Décision formule des règles claires (ex: si Revenu &gt; X et Dettes &lt; Y). Ce point est un impératif de conformité pour le secteur bancaire.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6. Architecture Logicielle MVC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2004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700" b="1">
                <a:solidFill>
                  <a:srgbClr val="10B981"/>
                </a:solidFill>
                <a:latin typeface="Arial"/>
              </a:defRPr>
            </a:pPr>
            <a:r>
              <a:t>📦 Modèle (Model)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200" i="1">
                <a:solidFill>
                  <a:srgbClr val="64748B"/>
                </a:solidFill>
                <a:latin typeface="Calibri"/>
              </a:defRPr>
            </a:pPr>
            <a:r>
              <a:t>Gère l'apprentissage et le traitement de données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preprocessing.py : Encodage et normalisation réutilisables.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train.py : Entraînement et tracking avec MLflow.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Fichiers sérialisés (pkl) persistés dans le dossier 'model/'.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2004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⚙️ Contrôleur (Controller)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200" i="1">
                <a:solidFill>
                  <a:srgbClr val="64748B"/>
                </a:solidFill>
                <a:latin typeface="Calibri"/>
              </a:defRPr>
            </a:pPr>
            <a:r>
              <a:t>Assure l'interface logique et l'inférence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pipeline.py : Charge à la volée le modèle et applique les transformations.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predict.py : Fournit le point d'entrée unique de prédiction du score.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645920"/>
            <a:ext cx="32004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700" b="1">
                <a:solidFill>
                  <a:srgbClr val="1E3A8A"/>
                </a:solidFill>
                <a:latin typeface="Arial"/>
              </a:defRPr>
            </a:pPr>
            <a:r>
              <a:t>🖥️ Vue (View)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200" i="1">
                <a:solidFill>
                  <a:srgbClr val="64748B"/>
                </a:solidFill>
                <a:latin typeface="Calibri"/>
              </a:defRPr>
            </a:pPr>
            <a:r>
              <a:t>Gère l'interface graphique Streamlit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app.py : Fichier d'entrée de l'application interactive.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components.py : Éléments graphiques (formulaires de saisie, jauge de confiance, onglets comparatifs).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Arial"/>
              </a:defRPr>
            </a:pPr>
            <a:r>
              <a:t>7. Déploiement et Conclusion</a:t>
            </a:r>
          </a:p>
          <a:p>
            <a:pPr>
              <a:spcBef>
                <a:spcPts val="1000"/>
              </a:spcBef>
              <a:defRPr sz="2000">
                <a:solidFill>
                  <a:srgbClr val="F1F5F9"/>
                </a:solidFill>
                <a:latin typeface="Calibri"/>
              </a:defRPr>
            </a:pPr>
            <a:r>
              <a:t>Un projet structuré, robuste et prêt pour la production.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1600">
                <a:solidFill>
                  <a:srgbClr val="F1F5F9"/>
                </a:solidFill>
                <a:latin typeface="Calibri"/>
              </a:defRPr>
            </a:pPr>
            <a:r>
              <a:t>✔ Dashboard Web Streamlit : Saisie intuitive des données et affichage immédiat d'un diagnostic binaire clair, accompagné d'une jauge de probabilité.</a:t>
            </a:r>
          </a:p>
          <a:p>
            <a:pPr>
              <a:spcBef>
                <a:spcPts val="1400"/>
              </a:spcBef>
              <a:defRPr sz="1600">
                <a:solidFill>
                  <a:srgbClr val="F1F5F9"/>
                </a:solidFill>
                <a:latin typeface="Calibri"/>
              </a:defRPr>
            </a:pPr>
            <a:r>
              <a:t>✔ Modularité MVC : Séparation stricte du code, facilitant la maintenance, les tests et le travail d'équipe.</a:t>
            </a:r>
          </a:p>
          <a:p>
            <a:pPr>
              <a:spcBef>
                <a:spcPts val="1400"/>
              </a:spcBef>
              <a:defRPr sz="1600">
                <a:solidFill>
                  <a:srgbClr val="F1F5F9"/>
                </a:solidFill>
                <a:latin typeface="Calibri"/>
              </a:defRPr>
            </a:pPr>
            <a:r>
              <a:t>✔ Reproductibilité MLOps : Versioning du dataset, tracking MLflow et stockage sécurisé des modèles de scoring.</a:t>
            </a:r>
          </a:p>
          <a:p>
            <a:pPr>
              <a:spcBef>
                <a:spcPts val="2400"/>
              </a:spcBef>
              <a:defRPr sz="2000" b="1">
                <a:solidFill>
                  <a:srgbClr val="10B981"/>
                </a:solidFill>
                <a:latin typeface="Arial"/>
              </a:defRPr>
            </a:pPr>
            <a:r>
              <a:t>Merci pour votre attention. Place aux questions ! 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